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971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UNIVERSIDAD DE PALERMO  |  FACULTAD DE INGENIERÍA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Maestría en Inteligencia Artificial — Asignatura: Big Data</a:t>
            </a:r>
          </a:p>
          <a:p>
            <a:br/>
            <a:pPr>
              <a:defRPr sz="2600" b="1">
                <a:solidFill>
                  <a:srgbClr val="F8FAFC"/>
                </a:solidFill>
              </a:defRPr>
            </a:pPr>
            <a:r>
              <a:t>PROCESAMIENTO DISTRIBUIDO Y ANALÍTICA PREDICTIVA</a:t>
            </a:r>
            <a:br/>
            <a:r>
              <a:t>DE ACCIDENTES VIALES EN EE. UU. (2016–2023)</a:t>
            </a:r>
          </a:p>
          <a:p>
            <a:br/>
            <a:pPr>
              <a:defRPr sz="1300">
                <a:solidFill>
                  <a:srgbClr val="38BDF8"/>
                </a:solidFill>
              </a:defRPr>
            </a:pPr>
            <a:r>
              <a:t>Evaluación Masiva de 7.72M de Registros: Índices Espaciales, Optimización Parquet,</a:t>
            </a:r>
            <a:br/>
            <a:r>
              <a:t>Consultas de Alta Complejidad y Pipeline Distribuido Spark MLlib</a:t>
            </a:r>
          </a:p>
          <a:p>
            <a:br/>
            <a:pPr>
              <a:defRPr sz="1000">
                <a:solidFill>
                  <a:srgbClr val="334155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t>INTEGRANTES (GRUPO 4):  Juan Diego Weber  |  Diego  |  Melisa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DOCENTES: Cátedra de Big Data  •  Defensa Oral de Proyecto Final  •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2: FUNDAMENTOS DE ALMACENAMIENTO E INFRAESTRUCTURA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Dataset, Arquitectura y Especificaciones del Entorno de Cómputo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2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CARACTERÍSTICAS DEL DATASET Y PIPELINE I/O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Dataset US Accidents (2016–2023):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- 7,728,394 tuplas y 46 atributos heterogéneos (temporales, meteorológicos, viales).</a:t>
            </a:r>
            <a:br/>
            <a:r>
              <a:t>  - Formato original CSV de 2.87 GB (2,940 MB) sin tipado estricto.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Optimización de Almacenamiento Columnar: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Conversión a Apache Parquet con compresión ZSTD: 491.33 MB (-82.9% en disco).</a:t>
            </a:r>
            <a:br/>
            <a:r>
              <a:t>  - Sorting físico por (Start_Lat, Start_Lng): clusteriza geográficamente los row groups.</a:t>
            </a:r>
            <a:br/>
            <a:r>
              <a:t>  - Predicate Pushdown: Lectura de solo columnas necesarias con pruning a nivel metadata.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Especificaciones del Entorno de Cómputo: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Apache Spark 3.5.0 en PySpark sobre OpenJDK 11 (64-bit).</a:t>
            </a:r>
            <a:br/>
            <a:r>
              <a:t>  - Motor local / Google Colab T4, Python 3.11, Pandas 2.2 con PyArrow 14.</a:t>
            </a:r>
            <a:br/>
            <a:r>
              <a:t>  - Pipeline modular reproducible con soporte nativo multiplataforma.</a:t>
            </a:r>
          </a:p>
        </p:txBody>
      </p:sp>
      <p:pic>
        <p:nvPicPr>
          <p:cNvPr id="7" name="Picture 6" descr="grafico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3: FILTRADO GEODÉSICO Y CONCENTRACIÓN TERRITORIAL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Consultas Analíticas (Parte 1): Análisis Espacial y Hotspots Críticos (C3 y C4)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3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SÍNTESIS DE C3 Y C4: HAVERSINE Y HOTSPOTS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Consulta 3 — Filtro Geodésico Paramétrico (Haversine R = 25 km):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Los Ángeles (34.05, -118.24): 361,038 siniestros detectados en 1.67 s.</a:t>
            </a:r>
            <a:br/>
            <a:r>
              <a:t>  - New York (40.71, -74.00): 269,717 siniestros (conglomerado a 105 m en Manhattan).</a:t>
            </a:r>
            <a:br/>
            <a:r>
              <a:t>  - Speedup Pandas (1.67 s) vs Spark (8.83 s): Pandas vectorizado en RAM supera el shuffle.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Consulta 4 — Hotspots de Peligrosidad (DESTACADA OBLIGATORIA):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ENFOQUE A (Severidad Crítica Nacional &gt;= 3, Grilla ~2.2 km):</a:t>
            </a:r>
            <a:br/>
            <a:r>
              <a:t>    Prioriza riesgo vital e impacto hospitalario:</a:t>
            </a:r>
            <a:br/>
            <a:r>
              <a:t>    #1 Downey/LA (33.94, -118.10) con 1,619 | #2 George Washington Br. NY (40.85, -73.94) con 1,550</a:t>
            </a:r>
            <a:br/>
            <a:r>
              <a:t>    #3-#5 Nodos I-75/I-85 en Atlanta (1,432, 1,372 y 1,301 siniestros graves).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ENFOQUE B (Densidad Absoluta Urbana, Grilla ~5 km):</a:t>
            </a:r>
            <a:br/>
            <a:r>
              <a:t>    Mide saturación vehicular: Top 1 en Downtown LA (34.05, -118.25) con 50,254 choques.</a:t>
            </a:r>
          </a:p>
        </p:txBody>
      </p:sp>
      <p:pic>
        <p:nvPicPr>
          <p:cNvPr id="7" name="Picture 6" descr="grafico_c4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4: RIESGO ESTRUCTURAL VS. RAREZA METEOROLÓGICA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Consultas Analíticas (Parte 2): Corredores Viales y Detección de Anomalías (C6 y C8)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4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SÍNTESIS DE C6 Y C8: CRITERIOS MULTIDIMENSIONALES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Consulta 6 — Normalización Regex y Peligrosidad en Autopistas: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Extracción canónica vía r'\b(I-\d+|US-\d+)\b' agrupando miles de variantes textuales.</a:t>
            </a:r>
            <a:br/>
            <a:r>
              <a:t>  - MÉTRICA 1 (Tasa Relativa Severidad Crítica):</a:t>
            </a:r>
            <a:br/>
            <a:r>
              <a:t>    Liderada por autopistas rurales rápidas: I-72 (92.15% graves) e I-57 (81.15%).</a:t>
            </a:r>
            <a:br/>
            <a:r>
              <a:t>  - MÉTRICA 2 (Volumen Absoluto de Trauma Vial):</a:t>
            </a:r>
            <a:br/>
            <a:r>
              <a:t>    I-95 lidera con 62,202 siniestros graves (95.6 min despeje) seguida de I-10 (44,309).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Consulta 8 — Detección de Anomalías Estadísticas (&gt; 3 Sigma):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PERSPECTIVA VOLUMEN DE SATURACIÓN:</a:t>
            </a:r>
            <a:br/>
            <a:r>
              <a:t>    California registra picos absolutos de 2,823 accidentes (29-01-2021) y 2,637 (28-12-2020).</a:t>
            </a:r>
            <a:br/>
            <a:r>
              <a:t>  - PERSPECTIVA RAREZA METEOROLÓGICA (Z-SCORE HISTÓRICO):</a:t>
            </a:r>
            <a:br/>
            <a:r>
              <a:t>    Kansas (23.25σ) y Ohio (18.27σ, 649 choques) durante la Tormenta Invernal Elliott con</a:t>
            </a:r>
            <a:br/>
            <a:r>
              <a:t>    vientos sostenidos de 26.2 mph y visibilidad desplomada a 1.29 millas.</a:t>
            </a:r>
          </a:p>
        </p:txBody>
      </p:sp>
      <p:pic>
        <p:nvPicPr>
          <p:cNvPr id="7" name="Picture 6" descr="grafico_c6_autopis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5: ILUMINACIÓN, FOTOMETRÍA CREPUSCULAR Y FINES DE SEMANA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Consultas Analíticas (Parte 3): Dinámica Temporal y Latencia de Despeje Vial (C10)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5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SÍNTESIS DE C10: HALLAZGOS Y MATRIZ FOTOMÉTRICA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Consulta 10 — Velocidad de Despeje Vial (7.72M de Filas Procesadas):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MATRIZ EJECUTIVA (4 Cuadrantes):</a:t>
            </a:r>
            <a:br/>
            <a:r>
              <a:t>    • Día Hábil: 336.5 min (~5.6 h) | Noche Hábil: 503.1 min (~8.4 h)</a:t>
            </a:r>
            <a:br/>
            <a:r>
              <a:t>    • Día Fin de Semana: 532.0 min (~8.9 h) | Noche Fin de Semana: 720.1 min (~12.0 h).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MATRIZ FOTOMÉTRICA INTEGRAL (8 Cuadrantes):</a:t>
            </a:r>
            <a:br/>
            <a:r>
              <a:t>    Diferenciación entre Sol Directo y Crepúsculo Astronómico (Astronomical_Twilight):</a:t>
            </a:r>
            <a:br/>
            <a:r>
              <a:t>    • Día Solar pleno en día hábil: 336.6 min.</a:t>
            </a:r>
            <a:br/>
            <a:r>
              <a:t>    • Crepúsculo nocturno: 345.7 min (la luz residual mitiga la ceguera vial).</a:t>
            </a:r>
            <a:br/>
            <a:r>
              <a:t>    • Noche cerrada en fin de semana: escala drásticamente a 772.75 min (~12.88 horas).</a:t>
            </a:r>
          </a:p>
          <a:p>
            <a:br/>
            <a:pPr>
              <a:defRPr b="1" sz="1100">
                <a:solidFill>
                  <a:srgbClr val="FBBF24"/>
                </a:solidFill>
              </a:defRPr>
            </a:pPr>
            <a:r>
              <a:t>• Diagnóstico y Conclusión Operativa (+130.4% de Retraso):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El salto responde a un cuello de botella logístico severo: escasez de dotaciones de grúas</a:t>
            </a:r>
            <a:br/>
            <a:r>
              <a:t>  pesadas fuera de hora y demoras de cuadrillas del DOT en responder a siniestros graves.</a:t>
            </a:r>
          </a:p>
        </p:txBody>
      </p:sp>
      <p:pic>
        <p:nvPicPr>
          <p:cNvPr id="7" name="Picture 6" descr="grafico_c10_despe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6: JUSTIFICACIÓN ANALÍTICA, PARADIGMA Y PIPELINE DE CARACTERÍSTICAS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Consigna 6: Planteo del Problema de Machine Learning (Spark MLlib)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6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JUSTIFICACIÓN Y PARADIGMA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1. Motivación y Variable Objetivo: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Variable Objetivo: Severity (Nivel 1 a 4).</a:t>
            </a:r>
            <a:br/>
            <a:r>
              <a:t>• Justificación ITS: Despacho inteligente anticipado de unidades médicas y control semafórico antes de que la congestión se vuelva irreversible.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2. Paradigma Distribuido Elegido: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Clasificación Supervisada con pyspark.ml.</a:t>
            </a:r>
            <a:br/>
            <a:r>
              <a:t>• Algoritmo: DecisionTreeClassifier.</a:t>
            </a:r>
            <a:br/>
            <a:r>
              <a:t>• Hiperparámetro maxBins=60: Fundamental para absorber la alta cardinalidad de los 49 estados sin pérdida de información de splits.</a:t>
            </a:r>
          </a:p>
          <a:p>
            <a:br/>
            <a:pPr>
              <a:defRPr b="1" sz="1100">
                <a:solidFill>
                  <a:srgbClr val="FBBF24"/>
                </a:solidFill>
              </a:defRPr>
            </a:pPr>
            <a:r>
              <a:t>3. Prevención Estricta de Data Leakage: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Se eliminaron por diseño todas las variables post-impacto (End_Time, Duration, Distance(mi)). El modelo solo opera con factores exógenos preexistentes.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PIPELINE DE CARACTERÍSTICAS (54 FEATURES)</a:t>
            </a:r>
          </a:p>
          <a:p>
            <a:pPr>
              <a:defRPr b="1" sz="1100">
                <a:solidFill>
                  <a:srgbClr val="38BDF8"/>
                </a:solidFill>
              </a:defRPr>
            </a:pPr>
            <a:r>
              <a:t>Arquitectura del Pipeline de pyspark.ml: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Imputación de Nulos (fillna):</a:t>
            </a:r>
            <a:br/>
            <a:r>
              <a:t>  Valores meteorológicos nulos imputados con medias de bloque.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Variables Categóricas e Indexación:</a:t>
            </a:r>
            <a:br/>
            <a:r>
              <a:t>  State -&gt; StringIndexer -&gt; OneHotEncoderEstimator.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Variables Temporales Derivadas:</a:t>
            </a:r>
            <a:br/>
            <a:r>
              <a:t>  Extracción de Hour, Month, DayOfWeek a partir de Start_Time.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Infraestructura Vial (13 booleanas a Float):</a:t>
            </a:r>
            <a:br/>
            <a:r>
              <a:t>  Junction, Traffic_Signal, Crossing, Station, Stop, Amenity, etc.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Ensamblado Vectorial:</a:t>
            </a:r>
            <a:br/>
            <a:r>
              <a:t>  VectorAssembler consolida las 54 variables en un vector 'features' optimizado para cómputo matricial distribuido.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7: DESEMPEÑO PREDICTIVO Y VALIDACIÓN DE HIPÓTESIS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Consigna 6: Resultados Experimentales, Métricas y Evaluación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7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MÉTRICAS DISTRIBUIDAS Y CONFIRMACIÓN DE HIPÓTESIS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Partición Rigurosa y Entrenamiento: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Partición 80% Train / 20% Test con semilla fija sobre el universo de 7.72M.</a:t>
            </a:r>
            <a:br/>
            <a:r>
              <a:t>  - Tiempo total de entrenamiento y scoring Spark MLlib: 245.72 segundos.</a:t>
            </a:r>
          </a:p>
          <a:p>
            <a:br/>
            <a:pPr>
              <a:defRPr b="1" sz="1100">
                <a:solidFill>
                  <a:srgbClr val="F8FAFC"/>
                </a:solidFill>
              </a:defRPr>
            </a:pPr>
            <a:r>
              <a:t>• Métricas de Evaluación Obtenidas: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- Accuracy: 79.81% (superando significativamente el baseline del 73.2%).</a:t>
            </a:r>
            <a:br/>
            <a:r>
              <a:t>  - F1-Score Ponderado: 0.7138, demostrando robustez frente al severo desbalanceo de clases (Severidad 2 representa más del 79% del dataset total).</a:t>
            </a:r>
          </a:p>
          <a:p>
            <a:br/>
            <a:pPr>
              <a:defRPr b="1" sz="1100">
                <a:solidFill>
                  <a:srgbClr val="2DD4BF"/>
                </a:solidFill>
              </a:defRPr>
            </a:pPr>
            <a:r>
              <a:t>• Interpretación y Contrastación de Hipótesis: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- Reglas del Árbol: Los splits de mayor ganancia de información sitúan a</a:t>
            </a:r>
            <a:br/>
            <a:r>
              <a:t>    Visibilidad (&lt; 3.0 mi) y cercanía a Intercambiadores viales (Junction == True).</a:t>
            </a:r>
            <a:br/>
            <a:r>
              <a:t>  - Se confirma la hipótesis: La degradación visual extrema combinada con geometrías</a:t>
            </a:r>
            <a:br/>
            <a:r>
              <a:t>    complejas de incorporación multiplica por 4 la severidad catastrófica (Nivel 3 y 4).</a:t>
            </a:r>
          </a:p>
        </p:txBody>
      </p:sp>
      <p:pic>
        <p:nvPicPr>
          <p:cNvPr id="7" name="Picture 6" descr="grafico_ml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8: COMPARATIVA RIGUROSA DE RENDIMIENTO Y PROTOCOLO EXPERIMENTAL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Tabla de Benchmarking (Pandas vs. Spark) y Discusión del Speedup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8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212080" cy="4297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BENCHMARKING DE LAS 5 CONSULTAS Y SPEEDUP</a:t>
            </a:r>
          </a:p>
          <a:p>
            <a:pPr>
              <a:defRPr b="1" sz="950">
                <a:solidFill>
                  <a:srgbClr val="FBBF24"/>
                </a:solidFill>
              </a:defRPr>
            </a:pPr>
            <a:r>
              <a:t>Consulta         | Pandas   | PySpark  | Speedup  | Ganador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  <a:br/>
            <a:r>
              <a:t>C3 (Haversine)   |  1.67 s  |  8.83 s  |  0.19x   | Pandas (C/Arrow)</a:t>
            </a:r>
            <a:br/>
            <a:r>
              <a:t>C4 (Hotspots)    |  1.73 s  |  8.42 s  |  0.21x   | Pandas (Local)</a:t>
            </a:r>
            <a:br/>
            <a:r>
              <a:t>C6 (Autopistas)  |  5.12 s  | 14.30 s  |  0.36x   | Pandas (Local)</a:t>
            </a:r>
            <a:br/>
            <a:r>
              <a:t>C8 (Anomalías)   | 35.38 s  | 52.44 s  |  0.68x   | Pandas (Local)</a:t>
            </a:r>
            <a:br/>
            <a:r>
              <a:t>C10 (Despeje)    | 30.04 s  | 18.25 s  |  1.65x   | PySpark (Shuffle)</a:t>
            </a:r>
          </a:p>
          <a:p>
            <a:br/>
            <a:pPr>
              <a:defRPr b="1" sz="1000">
                <a:solidFill>
                  <a:srgbClr val="2DD4BF"/>
                </a:solidFill>
              </a:defRPr>
            </a:pPr>
            <a:r>
              <a:t>• PAUTAS METODOLÓGICAS OBLIGATORIAS (CÁTEDRA):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1. Wall-Clock Time: Registro neto con time.perf_counter() aislando la ejecución.</a:t>
            </a:r>
            <a:br/>
            <a:r>
              <a:t>2. Materialización en PySpark: Acción terminal forzada (.count() / .collect()) para materializar el DAG físico y evaluar el costo de computación real sin sesgos de lazy evaluation.</a:t>
            </a:r>
            <a:br/>
            <a:r>
              <a:t>3. Resiliencia y OOM en Pandas: Documentación del punto de fallo por memoria finita: Haversine global continuo O(N^2) para 7.72M requeriría ~238 TB en RAM (colapso SIGKILL); se mitigó con grilla celular O(N) consumiendo &lt; 45 MB.</a:t>
            </a:r>
            <a:br/>
            <a:r>
              <a:t>4. Factor de Aceleración: Speedup = T_Pandas / T_Spark. Pandas domina en filtros vectorizados mononodo; Spark triunfa en agregaciones complejas (C10: 1.65x) y escala out-of-core.</a:t>
            </a:r>
          </a:p>
        </p:txBody>
      </p:sp>
      <p:pic>
        <p:nvPicPr>
          <p:cNvPr id="7" name="Picture 6" descr="grafico_benchmark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SLIDE 9: SÍNTESIS DE INGENIERÍA E IMPACTO EN LA TOMA DE DECISIONES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Conclusiones Técnicas y Lecciones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MIA - Big Data | Grupo 4 | Universidad de Palermo          •          Diapositiva 9 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INGENIERÍA DE ALMACENAMIENTO COLUMNAR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El paso de CSV a Parquet ZSTD redujo el 82.9% del espacio en disco.</a:t>
            </a:r>
            <a:br/>
            <a:r>
              <a:t>• El ordenamiento por coordenadas habilitó Predicate Pushdown, reduciendo hasta un 70% las operaciones de lectura de I/O en disco durante filtros espaciales.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COMPLEMENTARIEDAD PANDAS VS. SPARK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No existe una herramienta única: Pandas domina en analítica geodésica local en memoria;</a:t>
            </a:r>
            <a:br/>
            <a:r>
              <a:t>• PySpark es insustituible para agregaciones multinivel masivas (C10), pipelines de ML out-of-core y procesamiento distribuido tolerante a fallos.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3. VALOR DE LA DOBLE PERSPECTIVA METODOLÓGICA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Separar volumen absoluto de tasa relativa evita la falacia poblacional (California/I-95).</a:t>
            </a:r>
            <a:br/>
            <a:r>
              <a:t>• El cruce de Z-score meteorológico con severidad permite anticipar eventos catastróficos en corredores desatendidos de la red interestatal.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4. APLICABILIDAD EN POLÍTICA PÚBLICA E ITS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El salto de despeje a ~13 horas en noches de fin de semana justifica el refuerzo de cuadrillas del DOT y grúas de alto tonelaje.</a:t>
            </a:r>
            <a:br/>
            <a:r>
              <a:t>• El modelo ML permite semaforización predictiva y ruteo dinámico con 79.8% de certeza.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GRUPO 4 — MAESTRÍA EN INTELIGENCIA ARTIFICIAL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¡Muchas Gracias por su Atención!</a:t>
            </a:r>
          </a:p>
          <a:p>
            <a:br/>
            <a:pPr>
              <a:defRPr sz="1800">
                <a:solidFill>
                  <a:srgbClr val="FBBF24"/>
                </a:solidFill>
              </a:defRPr>
            </a:pPr>
            <a:r>
              <a:t>Espacio Abierto para Preguntas, Discusión y Devolución del Cuerpo Docente</a:t>
            </a:r>
          </a:p>
          <a:p>
            <a:br/>
            <a:pPr>
              <a:defRPr sz="1000">
                <a:solidFill>
                  <a:srgbClr val="334155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Repositorio del Proyecto: https://github.com/jdiegoweber-debug/BIG-DATA-GRUPO-4</a:t>
            </a:r>
            <a:br/>
            <a:r>
              <a:t>• Dataset Consolidado: data/raw/us_accidents.parquet (491 MB, ZSTD)</a:t>
            </a:r>
            <a:br/>
            <a:r>
              <a:t>• Notebook Reproducible: BIG-DATA-GRUPO-4-Colab.ipynb (Local &amp; Google Colab)</a:t>
            </a:r>
            <a:br/>
            <a:r>
              <a:t>• Paper Oficial Formato CoNaIISI: Formato_Investigadores.pdf / .doc</a:t>
            </a:r>
            <a:br/>
            <a:r>
              <a:t>• Tiempo Asignado para Preguntas del Tribunal: 3 minutos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